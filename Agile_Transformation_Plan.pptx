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51020">
              <a:alpha val="70000"/>
            </a:srgbClr>
          </a:solidFill>
          <a:ln w="12700">
            <a:solidFill>
              <a:srgbClr val="05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731520"/>
            <a:ext cx="1645920" cy="164592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377440"/>
            <a:ext cx="1097280" cy="109728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109728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54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58368" y="21945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PLAN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29443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  |  Commercial &amp; Finance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3401568"/>
            <a:ext cx="201168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5661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Agile — A Phased Roadmap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663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Agile Transformation Office  |  April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3327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33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Assessment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435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teams stand 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4160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709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Transformation Goals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50008"/>
            <a:ext cx="4160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3288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32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59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Team-Specific Strategies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743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R&amp;A and C&amp;F tailored plans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99816"/>
            <a:ext cx="4160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8269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826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2095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Rollout Plan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4930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→ Adoption → Optimization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849624"/>
            <a:ext cx="4160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032504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325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Curriculum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42428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Workshops, coaching, and ceremonies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03327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033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Ceremonies by Team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12435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Sprint, Kanban, and hybrid approach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600200"/>
            <a:ext cx="4160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78308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1709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progress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350008"/>
            <a:ext cx="4160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53288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532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2459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57800" y="2743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for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099816"/>
            <a:ext cx="4160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28269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2826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57800" y="32095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57800" y="34930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starting this week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Assessment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0233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Reporting &amp; Analytics (R&amp;A)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453896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ServiceNow for support, enhancements &amp; projects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856232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792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story grooming or backlog management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258568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94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sprint planning, review, or retrospective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660904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5968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 only — no structured cadence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063240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not sized or prioritized by team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3465576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definition of 'Done' established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" y="3867912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803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work culture; little predictability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" y="4553712"/>
            <a:ext cx="1371600" cy="219456"/>
          </a:xfrm>
          <a:prstGeom prst="rect">
            <a:avLst>
              <a:gd name="adj" fmla="val 41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5537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Level 0–1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868680"/>
            <a:ext cx="4023360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8686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Commercial &amp; Finance (C&amp;F)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19472" y="1453896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interns/co-ops active for 6-month rotation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19472" y="1856232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1792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scoping epics &amp; user stories (new!)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19472" y="225856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2194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backlog grooming session Monday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19472" y="2660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25968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sprint ceremonies established yet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19472" y="306324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learning Agile/Scrum basics now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19472" y="34655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velocity or capacity baselines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19472" y="38679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2352" y="3803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greenfield Agile adoption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19472" y="4553712"/>
            <a:ext cx="1371600" cy="219456"/>
          </a:xfrm>
          <a:prstGeom prst="rect">
            <a:avLst>
              <a:gd name="adj" fmla="val 41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45537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Level 0–1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Goals — What Success Looks Like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96112"/>
            <a:ext cx="274320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64008" cy="1435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Delivery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commit to sprint goals and deliver consistently with measurable velocity.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896112"/>
            <a:ext cx="274320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96112"/>
            <a:ext cx="64008" cy="1435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005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1463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Backlog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7647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Prioritized, groomed backlogs that reflect current business value at all times.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896112"/>
            <a:ext cx="274320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896112"/>
            <a:ext cx="64008" cy="1435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005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1463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7647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visible to stakeholders; blockers surface quickly in daily stand-up.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651760"/>
            <a:ext cx="274320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651760"/>
            <a:ext cx="64008" cy="1435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61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3218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Culture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own their process, run retrospectives, and self-improve each sprint.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651760"/>
            <a:ext cx="274320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651760"/>
            <a:ext cx="64008" cy="1435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761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29000" y="3218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increase in Agile maturity score every quarter using team surveys.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651760"/>
            <a:ext cx="274320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651760"/>
            <a:ext cx="64008" cy="1435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761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55080" y="3218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Value Delivery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time-to-production through iterative delivery and CI/CD awareness.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Transformation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41248"/>
            <a:ext cx="2697480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26974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59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554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" y="1938528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865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101 Workshop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" y="2441448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3682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roles defined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" y="2944368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2871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creation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" y="3447288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3374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ceremonies kick off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" y="3950208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38770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alignment (R&amp;A)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82112" y="841248"/>
            <a:ext cx="2697480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82112" y="841248"/>
            <a:ext cx="269748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859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91840" y="1554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5–12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28416" y="1938528"/>
            <a:ext cx="9144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865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 cadence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28416" y="2441448"/>
            <a:ext cx="9144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23682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Grooming, Planning, Review, Retro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28416" y="2944368"/>
            <a:ext cx="9144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2871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 estimation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28416" y="3447288"/>
            <a:ext cx="9144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3374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for R&amp;A ongoing work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28416" y="3950208"/>
            <a:ext cx="9144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008" y="38770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tracking begins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44184" y="841248"/>
            <a:ext cx="2697480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44184" y="841248"/>
            <a:ext cx="269748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3912" y="859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53912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53912" y="1554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13–24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90488" y="1938528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1865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matured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0488" y="2441448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3682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dashboards live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90488" y="2944368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871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reduced; team self-serve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90488" y="3447288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3374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maturity assessment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90488" y="3950208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8770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concepts introduced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054096" y="2715768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54096" y="2551176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916168" y="2715768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16168" y="2551176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  (Weeks 1–4)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shared understanding, define roles, and launch the first ceremonies.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4114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7043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Agile 101 Training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57276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Agile/Scrum workshop (both teams)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189280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Scrum roles: PO, SM, Dev Team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21284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ceremonies: why &amp; how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53288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user stories &amp; acceptance criteria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1556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15568"/>
            <a:ext cx="411480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17043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Backlog Bootstrap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57276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R&amp;A: Map ServiceNow ticket types to Agile backlog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64608" y="189280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C&amp;F: Validate epics &amp; user stories in progress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64608" y="221284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teams: create initial product backlog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64608" y="253288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top 20 stories together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08152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81528"/>
            <a:ext cx="41148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13639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First Sprint Planning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" y="353872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C&amp;F: Run Sprint 0 planning session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" y="385876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R&amp;A: Set up Kanban board in ServiceNow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" y="417880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stories with T-shirt sizing or SP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" y="449884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Sprint Goal format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08152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81528"/>
            <a:ext cx="41148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13639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Launch Ceremonies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353872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stand-up retooled with Agile format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385876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C&amp;F: Sprint 1 begins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64608" y="417880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R&amp;A: Kanban WIP limits established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64608" y="449884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template introduced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Adoption  (Weeks 5–12)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ceremonies, start measuring velocity, and stabilize the cadence.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C&amp;F — Full Scrum Cadence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591056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78608" y="15727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10-day cycle; timebox strictly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1975104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56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Grooming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78608" y="19568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60-min session; refine &amp; size top stories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" y="2359152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340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78608" y="2340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Bi-weekly; select stories, set sprint goal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2743200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24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78608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min; yesterday / today / blockers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" y="3127248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08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78608" y="3108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 stakeholders; gather feedback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" y="3511296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493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78608" y="34930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 / what to improve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8912" y="3895344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877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Tracking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78608" y="38770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story points per sprint; set capacity baseline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" y="4279392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261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Pairing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78608" y="42611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+ intern on stories; knowledge transfer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1097280"/>
            <a:ext cx="4023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1097280"/>
            <a:ext cx="402336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R&amp;A — Kanban + Scrum Hybrid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19472" y="1591056"/>
            <a:ext cx="54864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15727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22008" y="1572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ServiceNow: To Do / In Progress / In Review / Done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19472" y="1975104"/>
            <a:ext cx="54864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19568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Limits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22008" y="19568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concurrent items; reduce context switching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19472" y="2359152"/>
            <a:ext cx="54864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23408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Grooming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22008" y="23408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new tickets; add acceptance criteria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19472" y="2743200"/>
            <a:ext cx="54864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47488" y="27249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Retool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922008" y="27249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board right-to-left; focus on flow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19472" y="3127248"/>
            <a:ext cx="54864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31089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 Lanes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922008" y="31089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/ Enhancement / Project work separated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19472" y="3511296"/>
            <a:ext cx="54864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47488" y="349300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Cadence Reviews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922008" y="34930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demo of completed enhancements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19472" y="3895344"/>
            <a:ext cx="54864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47488" y="387705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922008" y="38770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Bi-weekly; inspect &amp; adapt process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919472" y="4279392"/>
            <a:ext cx="54864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47488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Lead/Cycle Time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922008" y="42611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report flow metrics monthly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Optimization  (Weeks 13–24)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practices, reduce coaching dependency, and prepare for scaled agile.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338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(DoD)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9961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 formalize DoD checklist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86537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reviewed &amp; updated each quarter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23113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quality gates in ServiceNow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97280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1338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Dashboards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149961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chart live for C&amp;F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186537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Lead/Cycle time dashboard for R&amp;A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5848" y="223113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maturity scorecard shared monthly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0972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097280"/>
            <a:ext cx="27432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1338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Wind-Down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81928" y="149961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transitions to servant leader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81928" y="186537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run ceremonies independently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81928" y="223113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drop-in coaching sessions remain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871216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871216"/>
            <a:ext cx="27432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907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Introduction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" y="327355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PI Planning structure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" y="363931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ART awareness session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" y="400507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Portfolio Kanban for R&amp;A projects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2871216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871216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2907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Maturity Assessment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55848" y="327355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survey at start of Phase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55848" y="363931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self-assessment each sprint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55848" y="400507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reach Level 3 by end of Phase 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2871216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2871216"/>
            <a:ext cx="274320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2907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81928" y="327355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actions tracked to completion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81928" y="363931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spikes: 10% capacity per sprint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81928" y="400507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of practice established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Curriculum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155448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" y="8686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74520" y="868680"/>
            <a:ext cx="32004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9384" y="86868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868680"/>
            <a:ext cx="11887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9784" y="8686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868680"/>
            <a:ext cx="86868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504" y="86868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868680"/>
            <a:ext cx="16002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87184" y="86868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252728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1252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Foundations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874520" y="1252728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9384" y="12527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Manifesto, 12 principles, Scrum vs Kanban vs SAFe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074920" y="1252728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12527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263640" y="1252728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2527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32320" y="1252728"/>
            <a:ext cx="1600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12527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20040" y="1600200"/>
            <a:ext cx="15544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1600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Ceremonies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874520" y="1600200"/>
            <a:ext cx="32004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9384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Stand-up, Planning, Review, Retro — purpose, format, tips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074920" y="1600200"/>
            <a:ext cx="11887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9784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263640" y="1600200"/>
            <a:ext cx="868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16002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132320" y="1600200"/>
            <a:ext cx="16002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87184" y="16002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C&amp;F + R&amp;A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320040" y="1947672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" y="1947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Writing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1874520" y="1947672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29384" y="1947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criteria, acceptance criteria, story maps, epics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074920" y="1947672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9784" y="19476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6263640" y="1947672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8504" y="19476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7132320" y="1947672"/>
            <a:ext cx="1600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7184" y="194767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320040" y="2295144"/>
            <a:ext cx="15544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22951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Techniques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1874520" y="2295144"/>
            <a:ext cx="32004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29384" y="22951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points, T-shirt sizing, planning poker, affinity mapping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5074920" y="2295144"/>
            <a:ext cx="11887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9784" y="22951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6263640" y="2295144"/>
            <a:ext cx="868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18504" y="229514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7132320" y="2295144"/>
            <a:ext cx="16002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87184" y="229514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320040" y="2642616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26426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for ServiceNow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1874520" y="2642616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29384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setup, WIP limits, swim lanes, flow metrics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5074920" y="2642616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29784" y="26426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6263640" y="2642616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18504" y="264261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7132320" y="2642616"/>
            <a:ext cx="1600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87184" y="264261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R&amp;A Only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320040" y="2990088"/>
            <a:ext cx="15544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4904" y="2990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Management</a:t>
            </a:r>
            <a:endParaRPr lang="en-US" sz="920" dirty="0"/>
          </a:p>
        </p:txBody>
      </p:sp>
      <p:sp>
        <p:nvSpPr>
          <p:cNvPr id="66" name="Shape 64"/>
          <p:cNvSpPr/>
          <p:nvPr/>
        </p:nvSpPr>
        <p:spPr>
          <a:xfrm>
            <a:off x="1874520" y="2990088"/>
            <a:ext cx="32004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929384" y="29900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(MoSCoW, WSJF), grooming techniques, PO role</a:t>
            </a:r>
            <a:endParaRPr lang="en-US" sz="920" dirty="0"/>
          </a:p>
        </p:txBody>
      </p:sp>
      <p:sp>
        <p:nvSpPr>
          <p:cNvPr id="68" name="Shape 66"/>
          <p:cNvSpPr/>
          <p:nvPr/>
        </p:nvSpPr>
        <p:spPr>
          <a:xfrm>
            <a:off x="5074920" y="2990088"/>
            <a:ext cx="11887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29784" y="2990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20" dirty="0"/>
          </a:p>
        </p:txBody>
      </p:sp>
      <p:sp>
        <p:nvSpPr>
          <p:cNvPr id="70" name="Shape 68"/>
          <p:cNvSpPr/>
          <p:nvPr/>
        </p:nvSpPr>
        <p:spPr>
          <a:xfrm>
            <a:off x="6263640" y="2990088"/>
            <a:ext cx="868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18504" y="29900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920" dirty="0"/>
          </a:p>
        </p:txBody>
      </p:sp>
      <p:sp>
        <p:nvSpPr>
          <p:cNvPr id="72" name="Shape 70"/>
          <p:cNvSpPr/>
          <p:nvPr/>
        </p:nvSpPr>
        <p:spPr>
          <a:xfrm>
            <a:off x="7132320" y="2990088"/>
            <a:ext cx="16002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87184" y="299008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</a:t>
            </a:r>
            <a:endParaRPr lang="en-US" sz="920" dirty="0"/>
          </a:p>
        </p:txBody>
      </p:sp>
      <p:sp>
        <p:nvSpPr>
          <p:cNvPr id="74" name="Shape 72"/>
          <p:cNvSpPr/>
          <p:nvPr/>
        </p:nvSpPr>
        <p:spPr>
          <a:xfrm>
            <a:off x="320040" y="3337560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4904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Metrics</a:t>
            </a:r>
            <a:endParaRPr lang="en-US" sz="920" dirty="0"/>
          </a:p>
        </p:txBody>
      </p:sp>
      <p:sp>
        <p:nvSpPr>
          <p:cNvPr id="76" name="Shape 74"/>
          <p:cNvSpPr/>
          <p:nvPr/>
        </p:nvSpPr>
        <p:spPr>
          <a:xfrm>
            <a:off x="1874520" y="333756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929384" y="33375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Velocity, burndown, lead/cycle time, team health checks</a:t>
            </a:r>
            <a:endParaRPr lang="en-US" sz="920" dirty="0"/>
          </a:p>
        </p:txBody>
      </p:sp>
      <p:sp>
        <p:nvSpPr>
          <p:cNvPr id="78" name="Shape 76"/>
          <p:cNvSpPr/>
          <p:nvPr/>
        </p:nvSpPr>
        <p:spPr>
          <a:xfrm>
            <a:off x="5074920" y="3337560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29784" y="3337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920" dirty="0"/>
          </a:p>
        </p:txBody>
      </p:sp>
      <p:sp>
        <p:nvSpPr>
          <p:cNvPr id="80" name="Shape 78"/>
          <p:cNvSpPr/>
          <p:nvPr/>
        </p:nvSpPr>
        <p:spPr>
          <a:xfrm>
            <a:off x="6263640" y="3337560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18504" y="333756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hrs</a:t>
            </a:r>
            <a:endParaRPr lang="en-US" sz="920" dirty="0"/>
          </a:p>
        </p:txBody>
      </p:sp>
      <p:sp>
        <p:nvSpPr>
          <p:cNvPr id="82" name="Shape 80"/>
          <p:cNvSpPr/>
          <p:nvPr/>
        </p:nvSpPr>
        <p:spPr>
          <a:xfrm>
            <a:off x="7132320" y="3337560"/>
            <a:ext cx="1600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87184" y="33375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</a:t>
            </a:r>
            <a:endParaRPr lang="en-US" sz="920" dirty="0"/>
          </a:p>
        </p:txBody>
      </p:sp>
      <p:sp>
        <p:nvSpPr>
          <p:cNvPr id="84" name="Shape 82"/>
          <p:cNvSpPr/>
          <p:nvPr/>
        </p:nvSpPr>
        <p:spPr>
          <a:xfrm>
            <a:off x="320040" y="3685032"/>
            <a:ext cx="15544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74904" y="3685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Coaching</a:t>
            </a:r>
            <a:endParaRPr lang="en-US" sz="920" dirty="0"/>
          </a:p>
        </p:txBody>
      </p:sp>
      <p:sp>
        <p:nvSpPr>
          <p:cNvPr id="86" name="Shape 84"/>
          <p:cNvSpPr/>
          <p:nvPr/>
        </p:nvSpPr>
        <p:spPr>
          <a:xfrm>
            <a:off x="1874520" y="3685032"/>
            <a:ext cx="32004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929384" y="36850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Facilitation, servant leadership, removing blockers</a:t>
            </a:r>
            <a:endParaRPr lang="en-US" sz="920" dirty="0"/>
          </a:p>
        </p:txBody>
      </p:sp>
      <p:sp>
        <p:nvSpPr>
          <p:cNvPr id="88" name="Shape 86"/>
          <p:cNvSpPr/>
          <p:nvPr/>
        </p:nvSpPr>
        <p:spPr>
          <a:xfrm>
            <a:off x="5074920" y="3685032"/>
            <a:ext cx="11887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129784" y="3685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Coaching</a:t>
            </a:r>
            <a:endParaRPr lang="en-US" sz="920" dirty="0"/>
          </a:p>
        </p:txBody>
      </p:sp>
      <p:sp>
        <p:nvSpPr>
          <p:cNvPr id="90" name="Shape 88"/>
          <p:cNvSpPr/>
          <p:nvPr/>
        </p:nvSpPr>
        <p:spPr>
          <a:xfrm>
            <a:off x="6263640" y="3685032"/>
            <a:ext cx="868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18504" y="3685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20" dirty="0"/>
          </a:p>
        </p:txBody>
      </p:sp>
      <p:sp>
        <p:nvSpPr>
          <p:cNvPr id="92" name="Shape 90"/>
          <p:cNvSpPr/>
          <p:nvPr/>
        </p:nvSpPr>
        <p:spPr>
          <a:xfrm>
            <a:off x="7132320" y="3685032"/>
            <a:ext cx="16002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187184" y="36850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Masters</a:t>
            </a:r>
            <a:endParaRPr lang="en-US" sz="920" dirty="0"/>
          </a:p>
        </p:txBody>
      </p:sp>
      <p:sp>
        <p:nvSpPr>
          <p:cNvPr id="94" name="Shape 92"/>
          <p:cNvSpPr/>
          <p:nvPr/>
        </p:nvSpPr>
        <p:spPr>
          <a:xfrm>
            <a:off x="320040" y="4032504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74904" y="40325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Awareness</a:t>
            </a:r>
            <a:endParaRPr lang="en-US" sz="920" dirty="0"/>
          </a:p>
        </p:txBody>
      </p:sp>
      <p:sp>
        <p:nvSpPr>
          <p:cNvPr id="96" name="Shape 94"/>
          <p:cNvSpPr/>
          <p:nvPr/>
        </p:nvSpPr>
        <p:spPr>
          <a:xfrm>
            <a:off x="1874520" y="4032504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929384" y="40325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Planning intro, ART concept, value streams (Phase 3)</a:t>
            </a:r>
            <a:endParaRPr lang="en-US" sz="920" dirty="0"/>
          </a:p>
        </p:txBody>
      </p:sp>
      <p:sp>
        <p:nvSpPr>
          <p:cNvPr id="98" name="Shape 96"/>
          <p:cNvSpPr/>
          <p:nvPr/>
        </p:nvSpPr>
        <p:spPr>
          <a:xfrm>
            <a:off x="5074920" y="4032504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129784" y="40325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</a:t>
            </a:r>
            <a:endParaRPr lang="en-US" sz="920" dirty="0"/>
          </a:p>
        </p:txBody>
      </p:sp>
      <p:sp>
        <p:nvSpPr>
          <p:cNvPr id="100" name="Shape 98"/>
          <p:cNvSpPr/>
          <p:nvPr/>
        </p:nvSpPr>
        <p:spPr>
          <a:xfrm>
            <a:off x="6263640" y="4032504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318504" y="40325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920" dirty="0"/>
          </a:p>
        </p:txBody>
      </p:sp>
      <p:sp>
        <p:nvSpPr>
          <p:cNvPr id="102" name="Shape 100"/>
          <p:cNvSpPr/>
          <p:nvPr/>
        </p:nvSpPr>
        <p:spPr>
          <a:xfrm>
            <a:off x="7132320" y="4032504"/>
            <a:ext cx="1600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187184" y="40325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Ceremonies by Team — Sprint Cadence 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 (C&amp;F Scrum)  |  2-Week Cycle (R&amp;A Kanban)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097280"/>
            <a:ext cx="786384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09728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097280"/>
            <a:ext cx="786384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09728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097280"/>
            <a:ext cx="786384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09728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1097280"/>
            <a:ext cx="786384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09728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097280"/>
            <a:ext cx="786384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09728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1097280"/>
            <a:ext cx="786384" cy="329184"/>
          </a:xfrm>
          <a:prstGeom prst="rect">
            <a:avLst/>
          </a:prstGeom>
          <a:solidFill>
            <a:srgbClr val="1A3A4A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09728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786384" cy="329184"/>
          </a:xfrm>
          <a:prstGeom prst="rect">
            <a:avLst/>
          </a:prstGeom>
          <a:solidFill>
            <a:srgbClr val="1A3A4A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09728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1097280"/>
            <a:ext cx="786384" cy="329184"/>
          </a:xfrm>
          <a:prstGeom prst="rect">
            <a:avLst/>
          </a:prstGeom>
          <a:solidFill>
            <a:srgbClr val="1A3A4A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09728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1097280"/>
            <a:ext cx="786384" cy="329184"/>
          </a:xfrm>
          <a:prstGeom prst="rect">
            <a:avLst/>
          </a:prstGeom>
          <a:solidFill>
            <a:srgbClr val="1A3A4A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109728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0" y="1097280"/>
            <a:ext cx="786384" cy="329184"/>
          </a:xfrm>
          <a:prstGeom prst="rect">
            <a:avLst/>
          </a:prstGeom>
          <a:solidFill>
            <a:srgbClr val="1A3A4A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109728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822960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822960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1463040"/>
            <a:ext cx="868680" cy="1389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1463040"/>
            <a:ext cx="8686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(Scrum)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207008" y="1536192"/>
            <a:ext cx="731520" cy="1261872"/>
          </a:xfrm>
          <a:prstGeom prst="rect">
            <a:avLst/>
          </a:prstGeom>
          <a:solidFill>
            <a:srgbClr val="02809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153619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29968" y="1536192"/>
            <a:ext cx="731520" cy="1261872"/>
          </a:xfrm>
          <a:prstGeom prst="rect">
            <a:avLst/>
          </a:prstGeom>
          <a:solidFill>
            <a:srgbClr val="7DCF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9968" y="153619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52928" y="1536192"/>
            <a:ext cx="731520" cy="1261872"/>
          </a:xfrm>
          <a:prstGeom prst="rect">
            <a:avLst/>
          </a:prstGeom>
          <a:solidFill>
            <a:srgbClr val="7DCF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52928" y="153619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+Grooming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75888" y="1536192"/>
            <a:ext cx="731520" cy="1261872"/>
          </a:xfrm>
          <a:prstGeom prst="rect">
            <a:avLst/>
          </a:prstGeom>
          <a:solidFill>
            <a:srgbClr val="7DCF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75888" y="153619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98848" y="1536192"/>
            <a:ext cx="731520" cy="1261872"/>
          </a:xfrm>
          <a:prstGeom prst="rect">
            <a:avLst/>
          </a:prstGeom>
          <a:solidFill>
            <a:srgbClr val="7DCF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8848" y="153619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321808" y="1536192"/>
            <a:ext cx="731520" cy="1261872"/>
          </a:xfrm>
          <a:prstGeom prst="rect">
            <a:avLst/>
          </a:prstGeom>
          <a:solidFill>
            <a:srgbClr val="7DCF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1808" y="153619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44768" y="1536192"/>
            <a:ext cx="731520" cy="1261872"/>
          </a:xfrm>
          <a:prstGeom prst="rect">
            <a:avLst/>
          </a:prstGeom>
          <a:solidFill>
            <a:srgbClr val="7DCF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153619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+Grooming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967728" y="1536192"/>
            <a:ext cx="731520" cy="1261872"/>
          </a:xfrm>
          <a:prstGeom prst="rect">
            <a:avLst/>
          </a:prstGeom>
          <a:solidFill>
            <a:srgbClr val="7DCF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728" y="153619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790688" y="1536192"/>
            <a:ext cx="731520" cy="1261872"/>
          </a:xfrm>
          <a:prstGeom prst="rect">
            <a:avLst/>
          </a:prstGeom>
          <a:solidFill>
            <a:srgbClr val="00A89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90688" y="153619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613648" y="1536192"/>
            <a:ext cx="731520" cy="1261872"/>
          </a:xfrm>
          <a:prstGeom prst="rect">
            <a:avLst/>
          </a:prstGeom>
          <a:solidFill>
            <a:srgbClr val="02C39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13648" y="153619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" y="3017520"/>
            <a:ext cx="868680" cy="13898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3017520"/>
            <a:ext cx="8686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(Kanban)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207008" y="3090672"/>
            <a:ext cx="731520" cy="1261872"/>
          </a:xfrm>
          <a:prstGeom prst="rect">
            <a:avLst/>
          </a:prstGeom>
          <a:solidFill>
            <a:srgbClr val="F8C4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07008" y="309067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(Board)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029968" y="3090672"/>
            <a:ext cx="731520" cy="1261872"/>
          </a:xfrm>
          <a:prstGeom prst="rect">
            <a:avLst/>
          </a:prstGeom>
          <a:solidFill>
            <a:srgbClr val="F8C4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29968" y="309067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(Board)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852928" y="3090672"/>
            <a:ext cx="731520" cy="1261872"/>
          </a:xfrm>
          <a:prstGeom prst="rect">
            <a:avLst/>
          </a:prstGeom>
          <a:solidFill>
            <a:srgbClr val="F59E0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52928" y="309067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+Grooming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75888" y="3090672"/>
            <a:ext cx="731520" cy="1261872"/>
          </a:xfrm>
          <a:prstGeom prst="rect">
            <a:avLst/>
          </a:prstGeom>
          <a:solidFill>
            <a:srgbClr val="F8C4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75888" y="309067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(Board)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498848" y="3090672"/>
            <a:ext cx="731520" cy="1261872"/>
          </a:xfrm>
          <a:prstGeom prst="rect">
            <a:avLst/>
          </a:prstGeom>
          <a:solidFill>
            <a:srgbClr val="F8C4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98848" y="309067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(Board)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321808" y="3090672"/>
            <a:ext cx="731520" cy="1261872"/>
          </a:xfrm>
          <a:prstGeom prst="rect">
            <a:avLst/>
          </a:prstGeom>
          <a:solidFill>
            <a:srgbClr val="F8C4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21808" y="309067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(Board)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144768" y="3090672"/>
            <a:ext cx="731520" cy="1261872"/>
          </a:xfrm>
          <a:prstGeom prst="rect">
            <a:avLst/>
          </a:prstGeom>
          <a:solidFill>
            <a:srgbClr val="F8C4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44768" y="309067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(Board)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967728" y="3090672"/>
            <a:ext cx="731520" cy="1261872"/>
          </a:xfrm>
          <a:prstGeom prst="rect">
            <a:avLst/>
          </a:prstGeom>
          <a:solidFill>
            <a:srgbClr val="EA580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67728" y="309067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790688" y="3090672"/>
            <a:ext cx="731520" cy="1261872"/>
          </a:xfrm>
          <a:prstGeom prst="rect">
            <a:avLst/>
          </a:prstGeom>
          <a:solidFill>
            <a:srgbClr val="E0702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90688" y="309067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613648" y="3090672"/>
            <a:ext cx="731520" cy="1261872"/>
          </a:xfrm>
          <a:prstGeom prst="rect">
            <a:avLst/>
          </a:prstGeom>
          <a:solidFill>
            <a:srgbClr val="F8C4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13648" y="3090672"/>
            <a:ext cx="731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(Board)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20040" y="4663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05840" y="4709160"/>
            <a:ext cx="201168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261872" y="4681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578608" y="4709160"/>
            <a:ext cx="201168" cy="164592"/>
          </a:xfrm>
          <a:prstGeom prst="rect">
            <a:avLst/>
          </a:prstGeom>
          <a:solidFill>
            <a:srgbClr val="7DCFE8"/>
          </a:solidFill>
          <a:ln w="12700">
            <a:solidFill>
              <a:srgbClr val="7DCF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834640" y="4681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151376" y="4709160"/>
            <a:ext cx="201168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07408" y="4681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Review/Demo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724144" y="4709160"/>
            <a:ext cx="201168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80176" y="4681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296912" y="4709160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552944" y="4681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R&amp;A — ServiceNow Agile Strategy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Kanban-first with bi-weekly cadence ceremonies — meets the team where they are.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Structure (ServiceNow)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" y="1536192"/>
            <a:ext cx="71323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5361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" y="2084832"/>
            <a:ext cx="640080" cy="566928"/>
          </a:xfrm>
          <a:prstGeom prst="rect">
            <a:avLst/>
          </a:prstGeom>
          <a:solidFill>
            <a:srgbClr val="E0E7E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" y="20848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" y="2770632"/>
            <a:ext cx="640080" cy="566928"/>
          </a:xfrm>
          <a:prstGeom prst="rect">
            <a:avLst/>
          </a:prstGeom>
          <a:solidFill>
            <a:srgbClr val="E0E7E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" y="27706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6344" y="3456432"/>
            <a:ext cx="640080" cy="566928"/>
          </a:xfrm>
          <a:prstGeom prst="rect">
            <a:avLst/>
          </a:prstGeom>
          <a:solidFill>
            <a:srgbClr val="E0E7E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" y="34564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197864" y="1536192"/>
            <a:ext cx="71323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7864" y="15361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97864" y="18288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WIP: 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234440" y="2084832"/>
            <a:ext cx="640080" cy="566928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34440" y="20848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#103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234440" y="2770632"/>
            <a:ext cx="640080" cy="566928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34440" y="27706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#104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234440" y="3456432"/>
            <a:ext cx="640080" cy="566928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34440" y="34564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#105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965960" y="1536192"/>
            <a:ext cx="71323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15361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65960" y="18288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WIP: 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002536" y="2084832"/>
            <a:ext cx="640080" cy="566928"/>
          </a:xfrm>
          <a:prstGeom prst="rect">
            <a:avLst/>
          </a:prstGeom>
          <a:solidFill>
            <a:srgbClr val="FEF3C7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002536" y="20848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#106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002536" y="2770632"/>
            <a:ext cx="640080" cy="566928"/>
          </a:xfrm>
          <a:prstGeom prst="rect">
            <a:avLst/>
          </a:prstGeom>
          <a:solidFill>
            <a:srgbClr val="FEF3C7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002536" y="27706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#107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002536" y="3456432"/>
            <a:ext cx="640080" cy="566928"/>
          </a:xfrm>
          <a:prstGeom prst="rect">
            <a:avLst/>
          </a:prstGeom>
          <a:solidFill>
            <a:srgbClr val="FEF3C7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002536" y="34564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#108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34056" y="1536192"/>
            <a:ext cx="71323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34056" y="15361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34056" y="18288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WIP: 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70632" y="2084832"/>
            <a:ext cx="640080" cy="566928"/>
          </a:xfrm>
          <a:prstGeom prst="rect">
            <a:avLst/>
          </a:prstGeom>
          <a:solidFill>
            <a:srgbClr val="FCE7F3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770632" y="20848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#109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70632" y="2770632"/>
            <a:ext cx="640080" cy="566928"/>
          </a:xfrm>
          <a:prstGeom prst="rect">
            <a:avLst/>
          </a:prstGeom>
          <a:solidFill>
            <a:srgbClr val="FCE7F3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70632" y="27706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70632" y="3456432"/>
            <a:ext cx="640080" cy="566928"/>
          </a:xfrm>
          <a:prstGeom prst="rect">
            <a:avLst/>
          </a:prstGeom>
          <a:solidFill>
            <a:srgbClr val="FCE7F3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70632" y="34564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#111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502152" y="1536192"/>
            <a:ext cx="71323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2152" y="15361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538728" y="2084832"/>
            <a:ext cx="640080" cy="566928"/>
          </a:xfrm>
          <a:prstGeom prst="rect">
            <a:avLst/>
          </a:prstGeom>
          <a:solidFill>
            <a:srgbClr val="DCFCE7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538728" y="20848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#112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00600" y="109728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00600" y="1097280"/>
            <a:ext cx="402336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Practices &amp; Guardrails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92040" y="155448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92040" y="1554480"/>
            <a:ext cx="6400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47488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 Lane Separation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47488" y="1755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separate from Enhancement / Project stories — prevents cross-contamination of priorities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92040" y="210312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92040" y="2103120"/>
            <a:ext cx="6400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47488" y="21214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Limits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047488" y="23042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caps (3 In Progress) force focus and surface blockers before they become crises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92040" y="265176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892040" y="2651760"/>
            <a:ext cx="6400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47488" y="2670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Acceptance Criteria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047488" y="28529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ServiceNow ticket must have clear 'done' condition before moving to In Progress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92040" y="320040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892040" y="3200400"/>
            <a:ext cx="6400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47488" y="32186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Ticket Grooming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047488" y="34015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each week: triage new tickets, write AC, estimate effort using S/M/L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892040" y="374904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892040" y="3749040"/>
            <a:ext cx="6400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47488" y="37673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Cadence Review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047488" y="39502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completed enhancements to stakeholders; capture feedback before starting new work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92040" y="429768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892040" y="4297680"/>
            <a:ext cx="6400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47488" y="43159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Metrics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5047488" y="44988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lead time &amp; cycle time in ServiceNow reports; share monthly with team &amp; leadership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C&amp;F — Scrum Strategy &amp; Intern Integration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by the book — leverage the interns' fresh perspective as a forcing function for adoption.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417320" cy="822960"/>
          </a:xfrm>
          <a:prstGeom prst="round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64792" y="1261872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74520" y="1005840"/>
            <a:ext cx="1417320" cy="82296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0058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19272" y="1261872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29000" y="1005840"/>
            <a:ext cx="1417320" cy="82296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0058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73752" y="1261872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83480" y="1005840"/>
            <a:ext cx="1417320" cy="82296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0058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28232" y="1261872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37960" y="1005840"/>
            <a:ext cx="1417320" cy="82296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0058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82712" y="12618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Retro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19659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965960"/>
            <a:ext cx="64008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057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Intern/Co-op 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" y="2404872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 own stories from grooming through demo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84632" y="2624328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each intern with a senior team member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84632" y="2843784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 rotate as Scrum Master after Sprint 3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84632" y="3063240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rotation = 12+ sprints of experience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84632" y="3282696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End-of-rotation retrospective &amp; handoff doc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709160" y="19659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965960"/>
            <a:ext cx="64008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057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Roles (C&amp;F)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73752" y="2404872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Business lead defines priorities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873752" y="2624328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Master: Agile coach facilitates (Phase 1-2)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873752" y="2843784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Team: Full team incl. interns self-organizes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873752" y="3063240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attend Sprint Review (not retro)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873752" y="3282696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transitions to team member in Phase 3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320040" y="3730752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730752"/>
            <a:ext cx="64008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3822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&amp; Acceptance Criteria Standards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" y="4169664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As a [user], I want [goal], so that [benefit]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484632" y="4389120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criteria applied to all stories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84632" y="4608576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 acceptance criteria per story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484632" y="4828032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size: ideally ≤ 3 story points to stay in 1 sprint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484632" y="5047488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have clear business value statement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4709160" y="3730752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730752"/>
            <a:ext cx="64008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3822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(Initial)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73752" y="4169664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reviewed by at least 1 team member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873752" y="4389120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all passing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873752" y="4608576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updated (if applicable)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4873752" y="4828032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Demo-ready at Sprint Review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4873752" y="5047488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known P1/P2 bugs outstanding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— How We Measure Progress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41148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Maturity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16152"/>
            <a:ext cx="105156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216152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71600" y="1216152"/>
            <a:ext cx="160020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8176" y="121615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71800" y="1216152"/>
            <a:ext cx="64008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8376" y="1216152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1216152"/>
            <a:ext cx="82296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8456" y="121615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472184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1472184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71600" y="1472184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176" y="1472184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self-assessment survey (1–5 scale)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71800" y="1472184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08376" y="1472184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11880" y="1472184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48456" y="147218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→ Level 3 by Month 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1929384"/>
            <a:ext cx="10515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" y="1929384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Adoption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1929384"/>
            <a:ext cx="1600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08176" y="1929384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ceremonies run on schedule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71800" y="1929384"/>
            <a:ext cx="640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08376" y="1929384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11880" y="1929384"/>
            <a:ext cx="8229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48456" y="192938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by end of Phase 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868680"/>
            <a:ext cx="41148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C&amp;F Scrum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1216152"/>
            <a:ext cx="105156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5736" y="1216152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60720" y="1216152"/>
            <a:ext cx="160020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97296" y="121615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60920" y="1216152"/>
            <a:ext cx="64008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97496" y="1216152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01000" y="1216152"/>
            <a:ext cx="82296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37576" y="121615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1472184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45736" y="1472184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60720" y="1472184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97296" y="1472184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completed per sprint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60920" y="1472184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97496" y="1472184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Sprint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001000" y="1472184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37576" y="147218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± 10% by Sprint 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1929384"/>
            <a:ext cx="10515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45736" y="1929384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 Hit Rate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60720" y="1929384"/>
            <a:ext cx="1600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97296" y="1929384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sprints where goal is met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60920" y="1929384"/>
            <a:ext cx="640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97496" y="1929384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Sprint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01000" y="1929384"/>
            <a:ext cx="8229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37576" y="192938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by Sprint 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09160" y="2386584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45736" y="2386584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Hygiene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760720" y="2386584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97296" y="2386584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groomed stories in top of backlog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60920" y="2386584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97496" y="2386584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001000" y="2386584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37576" y="238658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ready at all times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" y="2990088"/>
            <a:ext cx="411480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299008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R&amp;A Kanban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20040" y="3337560"/>
            <a:ext cx="105156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6616" y="3337560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371600" y="3337560"/>
            <a:ext cx="160020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408176" y="333756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971800" y="3337560"/>
            <a:ext cx="64008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08376" y="3337560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611880" y="3337560"/>
            <a:ext cx="82296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48456" y="333756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20040" y="3593592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6616" y="3593592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371600" y="3593592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08176" y="359359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from ticket creation to Done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971800" y="3593592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08376" y="3593592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611880" y="3593592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48456" y="359359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reduction by Month 4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20040" y="4050792"/>
            <a:ext cx="10515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56616" y="4050792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371600" y="4050792"/>
            <a:ext cx="1600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408176" y="405079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from In Progress to Done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971800" y="4050792"/>
            <a:ext cx="640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008376" y="4050792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611880" y="4050792"/>
            <a:ext cx="8229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48456" y="405079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reduction by Month 4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20040" y="4507992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56616" y="4507992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Compliance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1371600" y="4507992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408176" y="450799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days WIP limits respected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971800" y="4507992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08376" y="4507992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611880" y="4507992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48456" y="450799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compliance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709160" y="2990088"/>
            <a:ext cx="41148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00600" y="299008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Health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4709160" y="3337560"/>
            <a:ext cx="105156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45736" y="3337560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5760720" y="3337560"/>
            <a:ext cx="160020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797296" y="333756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360920" y="3337560"/>
            <a:ext cx="64008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397496" y="3337560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8001000" y="3337560"/>
            <a:ext cx="822960" cy="2560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037576" y="333756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709160" y="3593592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745736" y="3593592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Action Rate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5760720" y="3593592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797296" y="359359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retro actions completed next sprint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360920" y="3593592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397496" y="3593592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Sprint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8001000" y="3593592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037576" y="359359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75% completion rate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4709160" y="4050792"/>
            <a:ext cx="10515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745736" y="4050792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Resolution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5760720" y="4050792"/>
            <a:ext cx="1600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797296" y="405079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hours to resolve stand-up blocker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7360920" y="4050792"/>
            <a:ext cx="640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397496" y="4050792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8001000" y="4050792"/>
            <a:ext cx="8229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037576" y="405079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 hrs by Phase 3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4709160" y="4507992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45736" y="4507992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Satisfaction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5760720" y="4507992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797296" y="450799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pulse survey (1–5)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7360920" y="4507992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397496" y="4507992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8001000" y="4507992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037576" y="450799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≥ 4.0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20116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" y="868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868680"/>
            <a:ext cx="7772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86584" y="86868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868680"/>
            <a:ext cx="658368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63824" y="86868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67328" y="868680"/>
            <a:ext cx="4828032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868680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216152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2161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to Change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31720" y="1216152"/>
            <a:ext cx="777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1399032"/>
            <a:ext cx="5943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13990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08960" y="1216152"/>
            <a:ext cx="65836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1399032"/>
            <a:ext cx="475488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39903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67328" y="1216152"/>
            <a:ext cx="482803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2192" y="1216152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leadership sponsorship early; frame Agile as removing pain, not adding process. Use quick wins in Sprint 1 to build momentum.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1883664"/>
            <a:ext cx="201168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" y="18836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Fatigue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31720" y="1883664"/>
            <a:ext cx="7772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2066544"/>
            <a:ext cx="5943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0665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08960" y="1883664"/>
            <a:ext cx="658368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066544"/>
            <a:ext cx="47548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20665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67328" y="1883664"/>
            <a:ext cx="4828032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22192" y="1883664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ceremonies timeboxed strictly. Retrospectively adjust length if teams signal fatigue. Show ROI via metrics dashboard.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2551176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" y="25511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Turnover (C&amp;F)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31720" y="2551176"/>
            <a:ext cx="777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3160" y="2734056"/>
            <a:ext cx="5943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27340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08960" y="2551176"/>
            <a:ext cx="65836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2734056"/>
            <a:ext cx="47548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273405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67328" y="2551176"/>
            <a:ext cx="482803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22192" y="2551176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everything. Use Definition of Done to enforce knowledge capture. Overlap periods between intern rotations.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218688"/>
            <a:ext cx="201168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" y="32186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Constraints (R&amp;A)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331720" y="3218688"/>
            <a:ext cx="7772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23160" y="3401568"/>
            <a:ext cx="5943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23160" y="34015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08960" y="3218688"/>
            <a:ext cx="658368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3401568"/>
            <a:ext cx="475488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34015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67328" y="3218688"/>
            <a:ext cx="4828032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22192" y="3218688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ServiceNow Kanban features early in Phase 1. Identify gaps and supplement with a visual board (physical or Miro) if needed.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388620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4904" y="3886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Scrum Master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331720" y="3886200"/>
            <a:ext cx="777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23160" y="4069080"/>
            <a:ext cx="5943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23160" y="40690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108960" y="3886200"/>
            <a:ext cx="65836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0" y="4069080"/>
            <a:ext cx="475488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0" y="406908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767328" y="3886200"/>
            <a:ext cx="482803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22192" y="3886200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assigns a volunteer SM per team. SM duties rotate in Phase 3 to spread skills and reduce single-point-of-failure.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0040" y="4553712"/>
            <a:ext cx="201168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4904" y="45537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Prioritization Gaps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331720" y="4553712"/>
            <a:ext cx="7772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423160" y="4736592"/>
            <a:ext cx="5943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23160" y="47365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108960" y="4553712"/>
            <a:ext cx="658368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0" y="4736592"/>
            <a:ext cx="475488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0" y="47365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767328" y="4553712"/>
            <a:ext cx="4828032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22192" y="4553712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training is mandatory in Phase 1. Use MoSCoW or WSJF frameworks. Escalation path defined for prioritization conflicts.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Actions Starting This Week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128930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Scrum Master / Agile Coach assignment for both teams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" y="165506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C&amp;F: Run first backlog grooming session Monday (already scheduled)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" y="202082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R&amp;A: Audit ServiceNow board — identify Kanban configuration gaps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" y="238658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Agile 101 Workshop for both teams (target: end of Week 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411480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37176" y="128930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teams: Complete initial backlog creation with top 20 stories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37176" y="165506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C&amp;F: Assign Product Owner; confirm sprint length (2 weeks)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37176" y="202082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R&amp;A: Define swim lanes and WIP limits in ServiceNow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37176" y="238658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agile maturity baseline survey (all team members)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71800"/>
            <a:ext cx="41148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971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" y="339242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C&amp;F: Run Sprint 0 planning; begin Sprint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" y="375818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R&amp;A: First stand-up in new Kanban walk-the-board format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" y="412394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teams: Introduce retrospective — first session end of Week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" y="448970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Coach: Schedule bi-weekly check-ins with both teams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71800"/>
            <a:ext cx="41148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971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37176" y="339242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Agile maturity scores and adjust coaching intensity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37176" y="375818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update: share metrics dashboard and sprint demos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37176" y="412394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health check: are actions being completed?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37176" y="448970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readiness to progress from Phase 1 → Phase 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188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to Agile maturity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a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ceremony.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4015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3886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Transformation Office  |  Ready to Start Monday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Transformation Plan</dc:title>
  <dc:subject>PptxGenJS Presentation</dc:subject>
  <dc:creator>Agile Transformation Office</dc:creator>
  <cp:lastModifiedBy>Agile Transformation Office</cp:lastModifiedBy>
  <cp:revision>1</cp:revision>
  <dcterms:created xsi:type="dcterms:W3CDTF">2026-04-18T00:32:41Z</dcterms:created>
  <dcterms:modified xsi:type="dcterms:W3CDTF">2026-04-18T00:32:41Z</dcterms:modified>
</cp:coreProperties>
</file>